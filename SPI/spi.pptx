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28B00-5EA6-E1D9-971B-FB5286C82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B05E49-4F48-3F72-D5BD-986A8AC6F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C36A9A-DF51-53B2-96EF-AD33D626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8C65B4-F5AC-CEF3-A7E5-8B0956E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A992E4-351E-31B4-2F8B-C3464105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13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011FF-0690-35C8-4624-C83F5280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4C0AA-B6C2-2F11-8FA0-EF7E11D5C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5F8831-B932-598D-C33F-EA09125A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F9AB8C-32CC-0D34-D65D-9D13E9C2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9C3438-B84D-C384-9DCA-57F5D1A1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61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8B55E-0496-8A24-2AD9-97F49920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6BFA91-AD60-2E44-9ABD-ED395ED97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B8F4C9-EFA1-B217-66FE-742E2098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4474A4-CC47-BB44-41B8-1B19CA1B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7FD1A0-D1ED-AA1D-84D4-E2EA6C34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97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9BA1C-F615-74C6-2D37-D41DBF01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41B575-CE3D-9AAB-5388-691A3A6D7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2E7D16-3663-0020-4266-E6F9D4EB2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165BCA-D76C-4483-CD7D-1D342A876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D02433-852E-7B4C-0FA8-32F84183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C57487-FE15-24D9-AE22-3E3E5DC1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47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5791A-37FC-7094-5CD2-8986EB691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6583F8-FDF3-4A28-2224-82CE54156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DEE1A7-AF73-2DE0-DC3B-B19E50170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017DEC-5DEE-F7EA-1C2F-84280F4F8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67D11D-2A6F-78F8-3E8B-9DD46B6B0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BDBC15-1D5C-11A9-A095-A9266523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1C180D-F0E4-827D-4679-384EA263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4FD64A-1836-935B-7482-4554D16E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58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586F1-8772-A1A8-9089-99A0E022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FB9E6C-661C-E502-3349-13F9E22C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F63D64-093F-EAB2-E610-40F384AC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3B444A-C8B1-7506-9B73-86A69116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79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511D69-5D3B-E9FF-F047-4D126D432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839F01-E410-ADC0-E899-38906DAF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075508-402A-F651-C310-81AE1A32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04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660AF-2BFC-8395-F006-59574B1A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4FD9A4-018F-46F6-0955-2FFF561AB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6703FE-B3E2-71CA-E496-9C2F73A2D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7FC4D5-5D07-CA60-BA40-160BCA05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956F4F-25C7-4BC4-7F8E-94E1E21F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1094E7-2695-D3B0-F1F3-DC3386F9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25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4710E-93DB-D421-2D85-B2652326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D067A9-28C5-6058-8579-4A72B1CAB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84B3B2-7DB6-34CA-DE84-6D0428D27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4FC36F-AD38-6C8E-1963-B4A94059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A76C88-895E-7400-ABD8-EEF85770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7FD023-017B-4BB0-12F4-3EB3936E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00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E6886-8B77-4A62-1CD5-B7A5B844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935BA7-3548-1F14-5CDB-50B330395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C7AB7F-961A-732C-A51E-30D4C5D7C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40DA7-70F0-E38F-8D90-33B669B8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8C019-4E11-75F1-4DF0-572A47BD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50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228BC8F-D9BB-B15D-3E5E-EF3608DEC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D664D1-F11E-6379-0C66-A7551DA4C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033937-87AC-A2D8-A586-4FA0C29C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D7B7F6-B249-C83F-0906-7D13A709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CC7CF3-E4E0-6436-7182-07171504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8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EFA02-D3E7-BA01-B4D7-B8CE2081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5FF14F-C76D-8048-4654-7125A924C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3EEB0-1B92-5CEA-E36F-67F4D7393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7D65A-8FC7-4533-9E94-1E5F23147574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F38B1E-8FC7-1630-D5E1-14DF42BA5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EDE0F6-B452-1815-66BA-F64536322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F9612-B253-4734-993D-6F0F58AB5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3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4515A-4D46-033A-8F3D-D9E7F87A5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1306"/>
            <a:ext cx="9144000" cy="3044613"/>
          </a:xfrm>
        </p:spPr>
        <p:txBody>
          <a:bodyPr>
            <a:normAutofit/>
          </a:bodyPr>
          <a:lstStyle/>
          <a:p>
            <a:r>
              <a:rPr lang="it-IT" sz="8000" b="1" dirty="0">
                <a:latin typeface="system-ui"/>
                <a:ea typeface="Verdana" panose="020B0604030504040204" pitchFamily="34" charset="0"/>
              </a:rPr>
              <a:t>Java Service Provider Interface (SPI)</a:t>
            </a:r>
            <a:endParaRPr lang="ru-RU" sz="8000" b="1" dirty="0">
              <a:latin typeface="system-ui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40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F59E26-B69C-315D-0659-9D8B1C92B116}"/>
              </a:ext>
            </a:extLst>
          </p:cNvPr>
          <p:cNvSpPr txBox="1"/>
          <p:nvPr/>
        </p:nvSpPr>
        <p:spPr>
          <a:xfrm>
            <a:off x="2997200" y="88052"/>
            <a:ext cx="6820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5400" b="1" i="0" dirty="0">
                <a:solidFill>
                  <a:srgbClr val="F7F8FC"/>
                </a:solidFill>
                <a:effectLst/>
                <a:latin typeface="system-ui"/>
              </a:rPr>
              <a:t>Для чего нужен </a:t>
            </a:r>
            <a:r>
              <a:rPr lang="en-US" sz="5400" b="1" i="0" dirty="0">
                <a:solidFill>
                  <a:srgbClr val="F7F8FC"/>
                </a:solidFill>
                <a:effectLst/>
                <a:latin typeface="system-ui"/>
              </a:rPr>
              <a:t>SPI?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0FA6B-2376-338D-E19F-554CEF295AD6}"/>
              </a:ext>
            </a:extLst>
          </p:cNvPr>
          <p:cNvSpPr txBox="1"/>
          <p:nvPr/>
        </p:nvSpPr>
        <p:spPr>
          <a:xfrm>
            <a:off x="5716694" y="1011382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Отделить интерфейс от конкретной реализации.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Позволить сторонним разработчикам подключать свои реализации без модификации исходного кода основной библиотеки.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Динамически обнаруживать и загружать провайдеры во время выполнения.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Создавать расширяемые архитектуры, где ядро знает только об интерфейсе, а конкретные реализации подтягиваются из </a:t>
            </a:r>
            <a:r>
              <a:rPr lang="ru-RU" sz="2400" b="1" dirty="0" err="1">
                <a:solidFill>
                  <a:schemeClr val="bg1"/>
                </a:solidFill>
              </a:rPr>
              <a:t>classpath</a:t>
            </a:r>
            <a:r>
              <a:rPr lang="ru-RU" sz="2400" b="1" dirty="0">
                <a:solidFill>
                  <a:schemeClr val="bg1"/>
                </a:solidFill>
              </a:rPr>
              <a:t> или </a:t>
            </a:r>
            <a:r>
              <a:rPr lang="ru-RU" sz="2400" b="1" dirty="0" err="1">
                <a:solidFill>
                  <a:schemeClr val="bg1"/>
                </a:solidFill>
              </a:rPr>
              <a:t>modulepath</a:t>
            </a:r>
            <a:r>
              <a:rPr lang="ru-RU" sz="2400" b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B87FC6B-4EA5-AA6A-1EF7-67F4B1FD0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337"/>
            <a:ext cx="5371253" cy="38521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447CBA-593A-AE71-AF7E-4BE765703B4E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101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104D5-82FD-34EE-13C8-E7FEA07BA331}"/>
              </a:ext>
            </a:extLst>
          </p:cNvPr>
          <p:cNvSpPr txBox="1"/>
          <p:nvPr/>
        </p:nvSpPr>
        <p:spPr>
          <a:xfrm>
            <a:off x="1645920" y="94826"/>
            <a:ext cx="8900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5400" b="1" i="0" dirty="0">
                <a:solidFill>
                  <a:srgbClr val="F7F8FC"/>
                </a:solidFill>
                <a:effectLst/>
                <a:latin typeface="system-ui"/>
              </a:rPr>
              <a:t>Определение SPI, связь с 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24873-D41C-37F2-2E31-6B570068B0AE}"/>
              </a:ext>
            </a:extLst>
          </p:cNvPr>
          <p:cNvSpPr txBox="1"/>
          <p:nvPr/>
        </p:nvSpPr>
        <p:spPr>
          <a:xfrm>
            <a:off x="0" y="1397463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SPI (Service </a:t>
            </a:r>
            <a:r>
              <a:rPr lang="ru-RU" sz="2000" b="1" dirty="0" err="1">
                <a:solidFill>
                  <a:schemeClr val="bg1"/>
                </a:solidFill>
              </a:rPr>
              <a:t>Provider</a:t>
            </a:r>
            <a:r>
              <a:rPr lang="ru-RU" sz="2000" b="1" dirty="0">
                <a:solidFill>
                  <a:schemeClr val="bg1"/>
                </a:solidFill>
              </a:rPr>
              <a:t> Interface) – это набор публичных интерфейсов, абстрактных классов или аннотаций, которые определяют контракт для поставщиков услуг (провайдеров).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7B9042C-2AC9-1758-6870-3A196A551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77011"/>
              </p:ext>
            </p:extLst>
          </p:nvPr>
        </p:nvGraphicFramePr>
        <p:xfrm>
          <a:off x="1645920" y="2688967"/>
          <a:ext cx="8127999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142093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708284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87350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Аспект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9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Целевая аудитория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Пользователи библиотеки (клиенты)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Разработчики расширений (провайдеры)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974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Направление вызовов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Клиент вызывает методы библиотеки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Библиотека вызывает методы провайдера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193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Жёсткость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Стабильный, обратная совместимость обязательна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 эволюционировать, часто скрывается за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131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150F09-B767-D58A-30CF-81BB2FF264FA}"/>
              </a:ext>
            </a:extLst>
          </p:cNvPr>
          <p:cNvSpPr txBox="1"/>
          <p:nvPr/>
        </p:nvSpPr>
        <p:spPr>
          <a:xfrm>
            <a:off x="4511040" y="2104192"/>
            <a:ext cx="2932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system-ui"/>
              </a:rPr>
              <a:t>Связь </a:t>
            </a:r>
            <a:r>
              <a:rPr lang="en-US" sz="3200" b="1" dirty="0">
                <a:solidFill>
                  <a:schemeClr val="bg1"/>
                </a:solidFill>
                <a:latin typeface="system-ui"/>
              </a:rPr>
              <a:t>API </a:t>
            </a:r>
            <a:r>
              <a:rPr lang="ru-RU" sz="3200" b="1" dirty="0">
                <a:solidFill>
                  <a:schemeClr val="bg1"/>
                </a:solidFill>
                <a:latin typeface="system-ui"/>
              </a:rPr>
              <a:t>и </a:t>
            </a:r>
            <a:r>
              <a:rPr lang="en-US" sz="3200" b="1" dirty="0">
                <a:solidFill>
                  <a:schemeClr val="bg1"/>
                </a:solidFill>
                <a:latin typeface="system-ui"/>
              </a:rPr>
              <a:t>SPI</a:t>
            </a:r>
            <a:endParaRPr lang="ru-RU" sz="3200" b="1" dirty="0">
              <a:solidFill>
                <a:schemeClr val="bg1"/>
              </a:solidFill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BD846-E4CA-A7E7-D39A-DD5BA4767FAD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493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104D5-82FD-34EE-13C8-E7FEA07BA331}"/>
              </a:ext>
            </a:extLst>
          </p:cNvPr>
          <p:cNvSpPr txBox="1"/>
          <p:nvPr/>
        </p:nvSpPr>
        <p:spPr>
          <a:xfrm>
            <a:off x="619760" y="115146"/>
            <a:ext cx="1095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000" b="1" i="0" dirty="0">
                <a:solidFill>
                  <a:srgbClr val="F7F8FC"/>
                </a:solidFill>
                <a:effectLst/>
                <a:latin typeface="system-ui"/>
              </a:rPr>
              <a:t>Принцип работы, </a:t>
            </a:r>
            <a:r>
              <a:rPr lang="ru-RU" sz="4000" b="1" dirty="0">
                <a:solidFill>
                  <a:srgbClr val="F7F8FC"/>
                </a:solidFill>
                <a:latin typeface="system-ui"/>
              </a:rPr>
              <a:t>класс</a:t>
            </a:r>
            <a:r>
              <a:rPr lang="ru-RU" sz="4000" b="1" i="0" dirty="0">
                <a:solidFill>
                  <a:srgbClr val="F7F8FC"/>
                </a:solidFill>
                <a:effectLst/>
                <a:latin typeface="system-ui"/>
              </a:rPr>
              <a:t>, интерфейс, реализация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180307-8DB8-1C98-1986-7B53E9CC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1150"/>
            <a:ext cx="5913120" cy="3455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5E6C27-4A00-6347-78C2-BDF537210082}"/>
              </a:ext>
            </a:extLst>
          </p:cNvPr>
          <p:cNvSpPr txBox="1"/>
          <p:nvPr/>
        </p:nvSpPr>
        <p:spPr>
          <a:xfrm>
            <a:off x="6096000" y="1351508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Механизм SPI в JDK построен вокруг класса </a:t>
            </a:r>
            <a:r>
              <a:rPr lang="ru-RU" sz="2400" b="1" dirty="0" err="1">
                <a:solidFill>
                  <a:schemeClr val="bg1"/>
                </a:solidFill>
              </a:rPr>
              <a:t>java.util.ServiceLoader</a:t>
            </a:r>
            <a:r>
              <a:rPr lang="ru-RU" sz="2400" b="1" dirty="0">
                <a:solidFill>
                  <a:schemeClr val="bg1"/>
                </a:solidFill>
              </a:rPr>
              <a:t>. Его задачи: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Найти все доступные реализации указанного интерфейса.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Загрузить их классы через </a:t>
            </a:r>
            <a:r>
              <a:rPr lang="ru-RU" sz="2400" b="1" dirty="0" err="1">
                <a:solidFill>
                  <a:schemeClr val="bg1"/>
                </a:solidFill>
              </a:rPr>
              <a:t>ClassLoader</a:t>
            </a:r>
            <a:r>
              <a:rPr lang="ru-RU" sz="2400" b="1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Создать экземпляры (вызвать конструктор без параметров).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Предоставить итератор или стрим для работы с ними.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E361A9-7C28-EFF4-DEA5-25FB193AA3DD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626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104D5-82FD-34EE-13C8-E7FEA07BA331}"/>
              </a:ext>
            </a:extLst>
          </p:cNvPr>
          <p:cNvSpPr txBox="1"/>
          <p:nvPr/>
        </p:nvSpPr>
        <p:spPr>
          <a:xfrm>
            <a:off x="2047240" y="0"/>
            <a:ext cx="8097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000" b="1" i="0" dirty="0">
                <a:solidFill>
                  <a:srgbClr val="F7F8FC"/>
                </a:solidFill>
                <a:effectLst/>
                <a:latin typeface="system-ui"/>
              </a:rPr>
              <a:t>Где </a:t>
            </a:r>
            <a:r>
              <a:rPr lang="en-US" sz="4000" b="1" i="0" dirty="0" err="1">
                <a:solidFill>
                  <a:srgbClr val="F7F8FC"/>
                </a:solidFill>
                <a:effectLst/>
                <a:latin typeface="system-ui"/>
              </a:rPr>
              <a:t>ServiceLoader</a:t>
            </a:r>
            <a:r>
              <a:rPr lang="en-US" sz="4000" b="1" i="0" dirty="0"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lang="ru-RU" sz="4000" b="1" i="0" dirty="0">
                <a:solidFill>
                  <a:srgbClr val="F7F8FC"/>
                </a:solidFill>
                <a:effectLst/>
                <a:latin typeface="system-ui"/>
              </a:rPr>
              <a:t>ищет реализации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4515FB-DE88-FB41-1213-33C230C7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053"/>
            <a:ext cx="5615093" cy="1276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586457-E23B-3F8F-DE12-9A3C0003BFA8}"/>
              </a:ext>
            </a:extLst>
          </p:cNvPr>
          <p:cNvSpPr txBox="1"/>
          <p:nvPr/>
        </p:nvSpPr>
        <p:spPr>
          <a:xfrm>
            <a:off x="758613" y="1056641"/>
            <a:ext cx="1706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ystem-ui"/>
              </a:rPr>
              <a:t>До </a:t>
            </a:r>
            <a:r>
              <a:rPr lang="en-US" sz="2800" b="1" dirty="0">
                <a:solidFill>
                  <a:schemeClr val="bg1"/>
                </a:solidFill>
                <a:latin typeface="system-ui"/>
              </a:rPr>
              <a:t>Java 9</a:t>
            </a:r>
            <a:endParaRPr lang="ru-RU" sz="2800" b="1" dirty="0">
              <a:solidFill>
                <a:schemeClr val="bg1"/>
              </a:solidFill>
              <a:latin typeface="system-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A17FE-7D9E-2BAC-0851-44B12343F226}"/>
              </a:ext>
            </a:extLst>
          </p:cNvPr>
          <p:cNvSpPr txBox="1"/>
          <p:nvPr/>
        </p:nvSpPr>
        <p:spPr>
          <a:xfrm>
            <a:off x="7887547" y="1148081"/>
            <a:ext cx="231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ystem-ui"/>
              </a:rPr>
              <a:t>После </a:t>
            </a:r>
            <a:r>
              <a:rPr lang="en-US" sz="2800" b="1" dirty="0">
                <a:solidFill>
                  <a:schemeClr val="bg1"/>
                </a:solidFill>
                <a:latin typeface="system-ui"/>
              </a:rPr>
              <a:t>Java 9</a:t>
            </a:r>
            <a:endParaRPr lang="ru-RU" sz="2800" b="1" dirty="0">
              <a:solidFill>
                <a:schemeClr val="bg1"/>
              </a:solidFill>
              <a:latin typeface="system-u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0F54DD1-55D2-BCB8-9284-A47D0F39C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79861"/>
            <a:ext cx="5992067" cy="371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371DD-1FD6-229F-6DE2-9F23A38C45A3}"/>
              </a:ext>
            </a:extLst>
          </p:cNvPr>
          <p:cNvSpPr txBox="1"/>
          <p:nvPr/>
        </p:nvSpPr>
        <p:spPr>
          <a:xfrm>
            <a:off x="3474720" y="2924490"/>
            <a:ext cx="524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i="0" dirty="0">
                <a:solidFill>
                  <a:srgbClr val="F7F8FC"/>
                </a:solidFill>
                <a:effectLst/>
                <a:latin typeface="system-ui"/>
              </a:rPr>
              <a:t>Приоритет и совместимость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FC3BAF-90B8-D321-42D2-D23AA7B42537}"/>
              </a:ext>
            </a:extLst>
          </p:cNvPr>
          <p:cNvSpPr txBox="1"/>
          <p:nvPr/>
        </p:nvSpPr>
        <p:spPr>
          <a:xfrm>
            <a:off x="631613" y="3524785"/>
            <a:ext cx="109287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Если приложение запущено в режиме --</a:t>
            </a:r>
            <a:r>
              <a:rPr lang="en-US" sz="2400" b="1" dirty="0">
                <a:solidFill>
                  <a:schemeClr val="bg1"/>
                </a:solidFill>
              </a:rPr>
              <a:t>module-path, </a:t>
            </a:r>
            <a:r>
              <a:rPr lang="en-US" sz="2400" b="1" dirty="0" err="1">
                <a:solidFill>
                  <a:schemeClr val="bg1"/>
                </a:solidFill>
              </a:rPr>
              <a:t>ServiceLoader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сначала ищет в </a:t>
            </a:r>
            <a:r>
              <a:rPr lang="en-US" sz="2400" b="1" dirty="0">
                <a:solidFill>
                  <a:schemeClr val="bg1"/>
                </a:solidFill>
              </a:rPr>
              <a:t>module-info.java, </a:t>
            </a:r>
            <a:r>
              <a:rPr lang="ru-RU" sz="2400" b="1" dirty="0">
                <a:solidFill>
                  <a:schemeClr val="bg1"/>
                </a:solidFill>
              </a:rPr>
              <a:t>затем уходит к </a:t>
            </a:r>
            <a:r>
              <a:rPr lang="en-US" sz="2400" b="1" dirty="0">
                <a:solidFill>
                  <a:schemeClr val="bg1"/>
                </a:solidFill>
              </a:rPr>
              <a:t>META-INF/services.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Если используется только </a:t>
            </a:r>
            <a:r>
              <a:rPr lang="en-US" sz="2400" b="1" dirty="0" err="1">
                <a:solidFill>
                  <a:schemeClr val="bg1"/>
                </a:solidFill>
              </a:rPr>
              <a:t>classpath</a:t>
            </a:r>
            <a:r>
              <a:rPr lang="ru-RU" sz="2400" b="1" dirty="0">
                <a:solidFill>
                  <a:schemeClr val="bg1"/>
                </a:solidFill>
              </a:rPr>
              <a:t>, работает только </a:t>
            </a:r>
            <a:r>
              <a:rPr lang="en-US" sz="2400" b="1" dirty="0">
                <a:solidFill>
                  <a:schemeClr val="bg1"/>
                </a:solidFill>
              </a:rPr>
              <a:t>META-INF/services.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В JPMS всё строго с видимостью: если модуль с реализацией не запрашивает доступ к модулю с интерфейсом, компилятор или загрузчик выдаст ошибку.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FBB26-ABC5-B4CC-5B4D-252A25BD800A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723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104D5-82FD-34EE-13C8-E7FEA07BA331}"/>
              </a:ext>
            </a:extLst>
          </p:cNvPr>
          <p:cNvSpPr txBox="1"/>
          <p:nvPr/>
        </p:nvSpPr>
        <p:spPr>
          <a:xfrm>
            <a:off x="1612900" y="0"/>
            <a:ext cx="8645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800" b="1" i="0" dirty="0">
                <a:solidFill>
                  <a:srgbClr val="F7F8FC"/>
                </a:solidFill>
                <a:effectLst/>
                <a:latin typeface="system-ui"/>
              </a:rPr>
              <a:t>Библиотеки, использующие </a:t>
            </a:r>
            <a:r>
              <a:rPr lang="en-US" sz="4800" b="1" i="0" dirty="0">
                <a:solidFill>
                  <a:srgbClr val="F7F8FC"/>
                </a:solidFill>
                <a:effectLst/>
                <a:latin typeface="system-ui"/>
              </a:rPr>
              <a:t>SPI</a:t>
            </a:r>
            <a:endParaRPr lang="ru-RU" sz="4800" b="1" i="0" dirty="0">
              <a:solidFill>
                <a:srgbClr val="F7F8FC"/>
              </a:solidFill>
              <a:effectLst/>
              <a:latin typeface="system-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FBB26-ABC5-B4CC-5B4D-252A25BD800A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BA4B53-CECC-FFA1-6CF4-50FBAE400F2C}"/>
              </a:ext>
            </a:extLst>
          </p:cNvPr>
          <p:cNvSpPr txBox="1"/>
          <p:nvPr/>
        </p:nvSpPr>
        <p:spPr>
          <a:xfrm>
            <a:off x="101600" y="1695450"/>
            <a:ext cx="5080000" cy="156966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dirty="0">
                <a:solidFill>
                  <a:srgbClr val="F7F8FC"/>
                </a:solidFill>
                <a:effectLst/>
              </a:rPr>
              <a:t>JDBC (Java Database Connectivity)</a:t>
            </a:r>
          </a:p>
          <a:p>
            <a:pPr algn="ctr"/>
            <a:endParaRPr lang="ru-RU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59C05-2D0E-C568-8EB0-B2DF5F698BFE}"/>
              </a:ext>
            </a:extLst>
          </p:cNvPr>
          <p:cNvSpPr txBox="1"/>
          <p:nvPr/>
        </p:nvSpPr>
        <p:spPr>
          <a:xfrm>
            <a:off x="6667500" y="1695450"/>
            <a:ext cx="5080000" cy="15696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i="0" dirty="0">
                <a:solidFill>
                  <a:srgbClr val="F7F8FC"/>
                </a:solidFill>
                <a:effectLst/>
              </a:rPr>
              <a:t>SLF4J</a:t>
            </a:r>
            <a:endParaRPr lang="ru-RU" sz="9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16157-0F5D-4C4F-8D8E-0ED10212D46B}"/>
              </a:ext>
            </a:extLst>
          </p:cNvPr>
          <p:cNvSpPr txBox="1"/>
          <p:nvPr/>
        </p:nvSpPr>
        <p:spPr>
          <a:xfrm>
            <a:off x="101600" y="4129563"/>
            <a:ext cx="5080000" cy="120032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i="0" dirty="0">
                <a:solidFill>
                  <a:srgbClr val="F7F8FC"/>
                </a:solidFill>
                <a:effectLst/>
              </a:rPr>
              <a:t>NIO.2 </a:t>
            </a:r>
            <a:r>
              <a:rPr lang="en-US" sz="3600" b="1" i="0" dirty="0" err="1">
                <a:solidFill>
                  <a:srgbClr val="F7F8FC"/>
                </a:solidFill>
                <a:effectLst/>
              </a:rPr>
              <a:t>FileSystemProvider</a:t>
            </a:r>
            <a:endParaRPr lang="ru-RU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39A22-5E22-B7DF-4E29-B7F1E79CC667}"/>
              </a:ext>
            </a:extLst>
          </p:cNvPr>
          <p:cNvSpPr txBox="1"/>
          <p:nvPr/>
        </p:nvSpPr>
        <p:spPr>
          <a:xfrm>
            <a:off x="6591300" y="4129563"/>
            <a:ext cx="5080000" cy="120032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i="0" dirty="0" err="1">
                <a:solidFill>
                  <a:srgbClr val="F7F8FC"/>
                </a:solidFill>
                <a:effectLst/>
              </a:rPr>
              <a:t>ZoneRulesProvider</a:t>
            </a:r>
            <a:r>
              <a:rPr lang="en-US" sz="3600" b="1" i="0" dirty="0">
                <a:solidFill>
                  <a:srgbClr val="F7F8FC"/>
                </a:solidFill>
                <a:effectLst/>
              </a:rPr>
              <a:t> / </a:t>
            </a:r>
            <a:r>
              <a:rPr lang="en-US" sz="3600" b="1" i="0" dirty="0" err="1">
                <a:solidFill>
                  <a:srgbClr val="F7F8FC"/>
                </a:solidFill>
                <a:effectLst/>
              </a:rPr>
              <a:t>java.time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169172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104D5-82FD-34EE-13C8-E7FEA07BA331}"/>
              </a:ext>
            </a:extLst>
          </p:cNvPr>
          <p:cNvSpPr txBox="1"/>
          <p:nvPr/>
        </p:nvSpPr>
        <p:spPr>
          <a:xfrm>
            <a:off x="1612900" y="0"/>
            <a:ext cx="909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800" b="1" i="0" dirty="0">
                <a:solidFill>
                  <a:srgbClr val="F7F8FC"/>
                </a:solidFill>
                <a:effectLst/>
                <a:latin typeface="system-ui"/>
              </a:rPr>
              <a:t>Преимущества и недостатки </a:t>
            </a:r>
            <a:r>
              <a:rPr lang="en-US" sz="4800" b="1" i="0" dirty="0">
                <a:solidFill>
                  <a:srgbClr val="F7F8FC"/>
                </a:solidFill>
                <a:effectLst/>
                <a:latin typeface="system-ui"/>
              </a:rPr>
              <a:t>SPI</a:t>
            </a:r>
            <a:endParaRPr lang="ru-RU" sz="4800" b="1" i="0" dirty="0">
              <a:solidFill>
                <a:srgbClr val="F7F8FC"/>
              </a:solidFill>
              <a:effectLst/>
              <a:latin typeface="system-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FBB26-ABC5-B4CC-5B4D-252A25BD800A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E3C9F-FF58-9F0E-CBAF-FE92F7422EE4}"/>
              </a:ext>
            </a:extLst>
          </p:cNvPr>
          <p:cNvSpPr txBox="1"/>
          <p:nvPr/>
        </p:nvSpPr>
        <p:spPr>
          <a:xfrm>
            <a:off x="233363" y="2274490"/>
            <a:ext cx="61182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Стандартный механизм JDK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Полная развязка интерфейса и реализации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Поддержка нескольких провайдеров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Работает в модульной и немодульной среде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Ленивая загрузка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Прозрачность для потребителя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0C3D7-7EF7-592A-8196-79DA8C412E36}"/>
              </a:ext>
            </a:extLst>
          </p:cNvPr>
          <p:cNvSpPr txBox="1"/>
          <p:nvPr/>
        </p:nvSpPr>
        <p:spPr>
          <a:xfrm>
            <a:off x="6904037" y="2274490"/>
            <a:ext cx="52879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Молчаливые ошибки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Конфликты в </a:t>
            </a:r>
            <a:r>
              <a:rPr lang="ru-RU" sz="2400" b="1" dirty="0" err="1">
                <a:solidFill>
                  <a:schemeClr val="bg1"/>
                </a:solidFill>
              </a:rPr>
              <a:t>classpath</a:t>
            </a:r>
            <a:r>
              <a:rPr lang="ru-RU" sz="2400" b="1" dirty="0">
                <a:solidFill>
                  <a:schemeClr val="bg1"/>
                </a:solidFill>
              </a:rPr>
              <a:t>/</a:t>
            </a:r>
            <a:r>
              <a:rPr lang="ru-RU" sz="2400" b="1" dirty="0" err="1">
                <a:solidFill>
                  <a:schemeClr val="bg1"/>
                </a:solidFill>
              </a:rPr>
              <a:t>modulepath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Требование конструктора без аргументов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Отсутствие DI-контейнера 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Сложность отладки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Безопасность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9437D-E486-0CF2-E924-E3BF94A59DF1}"/>
              </a:ext>
            </a:extLst>
          </p:cNvPr>
          <p:cNvSpPr txBox="1"/>
          <p:nvPr/>
        </p:nvSpPr>
        <p:spPr>
          <a:xfrm>
            <a:off x="842963" y="1536522"/>
            <a:ext cx="41417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system-ui"/>
              </a:rPr>
              <a:t>Преимущества: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9AB8-D910-20FE-8BC0-D7BD7B13F9CD}"/>
              </a:ext>
            </a:extLst>
          </p:cNvPr>
          <p:cNvSpPr txBox="1"/>
          <p:nvPr/>
        </p:nvSpPr>
        <p:spPr>
          <a:xfrm>
            <a:off x="7348538" y="1536522"/>
            <a:ext cx="2913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system-ui"/>
              </a:rPr>
              <a:t>Недостатки:</a:t>
            </a:r>
          </a:p>
        </p:txBody>
      </p:sp>
    </p:spTree>
    <p:extLst>
      <p:ext uri="{BB962C8B-B14F-4D97-AF65-F5344CB8AC3E}">
        <p14:creationId xmlns:p14="http://schemas.microsoft.com/office/powerpoint/2010/main" val="132546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104D5-82FD-34EE-13C8-E7FEA07BA331}"/>
              </a:ext>
            </a:extLst>
          </p:cNvPr>
          <p:cNvSpPr txBox="1"/>
          <p:nvPr/>
        </p:nvSpPr>
        <p:spPr>
          <a:xfrm>
            <a:off x="3987800" y="0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800" b="1" i="0" dirty="0">
                <a:solidFill>
                  <a:srgbClr val="F7F8FC"/>
                </a:solidFill>
                <a:effectLst/>
                <a:latin typeface="system-ui"/>
              </a:rPr>
              <a:t>Итоги, выводы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FBB26-ABC5-B4CC-5B4D-252A25BD800A}"/>
              </a:ext>
            </a:extLst>
          </p:cNvPr>
          <p:cNvSpPr txBox="1"/>
          <p:nvPr/>
        </p:nvSpPr>
        <p:spPr>
          <a:xfrm>
            <a:off x="9817947" y="6488668"/>
            <a:ext cx="2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Made without Gamma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6F15F-F49D-0420-2E48-C10B3ED61D34}"/>
              </a:ext>
            </a:extLst>
          </p:cNvPr>
          <p:cNvSpPr txBox="1"/>
          <p:nvPr/>
        </p:nvSpPr>
        <p:spPr>
          <a:xfrm>
            <a:off x="214312" y="830997"/>
            <a:ext cx="118570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SPI – это фундаментальный механизм Java для создания расширяемых, слабосвязанных библиотек. Он решает задачу инверсии зависимостей на уровне платформы, позволяя сторонним разработчикам подключать свои реализации без изменения кода ядра.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EB4F8-BBBE-7CBE-B236-018F65D4DD3E}"/>
              </a:ext>
            </a:extLst>
          </p:cNvPr>
          <p:cNvSpPr txBox="1"/>
          <p:nvPr/>
        </p:nvSpPr>
        <p:spPr>
          <a:xfrm>
            <a:off x="760413" y="1754327"/>
            <a:ext cx="4535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system-ui"/>
              </a:rPr>
              <a:t>Когда использовать </a:t>
            </a:r>
            <a:r>
              <a:rPr lang="en-US" sz="3200" b="1" dirty="0">
                <a:solidFill>
                  <a:schemeClr val="bg1"/>
                </a:solidFill>
                <a:latin typeface="system-ui"/>
              </a:rPr>
              <a:t>SPI</a:t>
            </a:r>
            <a:endParaRPr lang="ru-RU" sz="3200" b="1" dirty="0">
              <a:solidFill>
                <a:schemeClr val="bg1"/>
              </a:solidFill>
              <a:latin typeface="system-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D0E75-2571-D7DE-FE83-DFE0DECFA940}"/>
              </a:ext>
            </a:extLst>
          </p:cNvPr>
          <p:cNvSpPr txBox="1"/>
          <p:nvPr/>
        </p:nvSpPr>
        <p:spPr>
          <a:xfrm>
            <a:off x="0" y="2395240"/>
            <a:ext cx="548719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Вы разрабатываете библиотеку/фреймворк, который должен поддерживать плагины или адаптеры.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Требуется замена реализации в </a:t>
            </a:r>
            <a:r>
              <a:rPr lang="ru-RU" sz="2000" b="1" dirty="0" err="1">
                <a:solidFill>
                  <a:schemeClr val="bg1"/>
                </a:solidFill>
              </a:rPr>
              <a:t>runtime</a:t>
            </a:r>
            <a:r>
              <a:rPr lang="ru-RU" sz="2000" b="1" dirty="0">
                <a:solidFill>
                  <a:schemeClr val="bg1"/>
                </a:solidFill>
              </a:rPr>
              <a:t> без перекомпиляции (драйверы, кодеки, провайдеры безопасности, файловые системы).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Нужен стандартный, легковесный механизм без внешних зависимостей.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Проект уже использует JPMS или вы хотите подготовить код к будущей </a:t>
            </a:r>
            <a:r>
              <a:rPr lang="ru-RU" sz="2000" b="1" dirty="0" err="1">
                <a:solidFill>
                  <a:schemeClr val="bg1"/>
                </a:solidFill>
              </a:rPr>
              <a:t>модуляризации</a:t>
            </a:r>
            <a:r>
              <a:rPr lang="ru-RU" sz="20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635AB-2D70-E174-AD08-2389233F61BE}"/>
              </a:ext>
            </a:extLst>
          </p:cNvPr>
          <p:cNvSpPr txBox="1"/>
          <p:nvPr/>
        </p:nvSpPr>
        <p:spPr>
          <a:xfrm>
            <a:off x="7960121" y="1754326"/>
            <a:ext cx="3481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solidFill>
                  <a:srgbClr val="F7F8FC"/>
                </a:solidFill>
                <a:effectLst/>
                <a:latin typeface="system-ui"/>
              </a:rPr>
              <a:t>Когда избегать </a:t>
            </a:r>
            <a:r>
              <a:rPr lang="en-US" sz="3200" b="1" i="0" dirty="0">
                <a:solidFill>
                  <a:srgbClr val="F7F8FC"/>
                </a:solidFill>
                <a:effectLst/>
                <a:latin typeface="system-ui"/>
              </a:rPr>
              <a:t>SPI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226E1-70A4-9653-FA92-D63A6D218D98}"/>
              </a:ext>
            </a:extLst>
          </p:cNvPr>
          <p:cNvSpPr txBox="1"/>
          <p:nvPr/>
        </p:nvSpPr>
        <p:spPr>
          <a:xfrm>
            <a:off x="6255543" y="2395240"/>
            <a:ext cx="59110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Приложение простое, зависимости известны на этапе сборки.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Требуется сложная инициализация, управление жизненным циклом – лучше использовать DI-контейнеры.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Критична строгая детерминированность загрузки и </a:t>
            </a:r>
            <a:r>
              <a:rPr lang="ru-RU" sz="2000" b="1" dirty="0" err="1">
                <a:solidFill>
                  <a:schemeClr val="bg1"/>
                </a:solidFill>
              </a:rPr>
              <a:t>версионирование</a:t>
            </a:r>
            <a:r>
              <a:rPr lang="ru-RU" sz="2000" b="1" dirty="0">
                <a:solidFill>
                  <a:schemeClr val="bg1"/>
                </a:solidFill>
              </a:rPr>
              <a:t> провайдеров.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bg1"/>
                </a:solidFill>
              </a:rPr>
              <a:t>Команда не готова к отладке специфичных проблем.</a:t>
            </a:r>
          </a:p>
        </p:txBody>
      </p:sp>
    </p:spTree>
    <p:extLst>
      <p:ext uri="{BB962C8B-B14F-4D97-AF65-F5344CB8AC3E}">
        <p14:creationId xmlns:p14="http://schemas.microsoft.com/office/powerpoint/2010/main" val="34183631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479</Words>
  <Application>Microsoft Office PowerPoint</Application>
  <PresentationFormat>Широкоэкранный</PresentationFormat>
  <Paragraphs>73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system-ui</vt:lpstr>
      <vt:lpstr>Тема Office</vt:lpstr>
      <vt:lpstr>Java Service Provider Interface (SPI)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Кирилл Москов</dc:creator>
  <cp:lastModifiedBy>Кирилл Москов</cp:lastModifiedBy>
  <cp:revision>6</cp:revision>
  <dcterms:created xsi:type="dcterms:W3CDTF">2026-05-21T17:23:36Z</dcterms:created>
  <dcterms:modified xsi:type="dcterms:W3CDTF">2026-05-22T13:47:56Z</dcterms:modified>
</cp:coreProperties>
</file>